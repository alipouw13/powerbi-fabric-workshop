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2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20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Homes sold (latest month)</c:v>
                </c:pt>
              </c:strCache>
            </c:strRef>
          </c:tx>
          <c:spPr>
            <a:solidFill>
              <a:srgbClr val="1B9AAA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Dallas, TX</c:v>
                </c:pt>
                <c:pt idx="1">
                  <c:v>Chicago, IL</c:v>
                </c:pt>
                <c:pt idx="2">
                  <c:v>Atlanta, GA</c:v>
                </c:pt>
                <c:pt idx="3">
                  <c:v>Phoenix, AZ</c:v>
                </c:pt>
                <c:pt idx="4">
                  <c:v>Miami, FL</c:v>
                </c:pt>
                <c:pt idx="5">
                  <c:v>Austin, TX</c:v>
                </c:pt>
                <c:pt idx="6">
                  <c:v>Denver, CO</c:v>
                </c:pt>
                <c:pt idx="7">
                  <c:v>Charlotte, NC</c:v>
                </c:pt>
                <c:pt idx="8">
                  <c:v>Seattle, WA</c:v>
                </c:pt>
                <c:pt idx="9">
                  <c:v>Nashville, TN</c:v>
                </c:pt>
                <c:pt idx="10">
                  <c:v>Boston, MA</c:v>
                </c:pt>
                <c:pt idx="11">
                  <c:v>Portland, OR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7421</c:v>
                </c:pt>
                <c:pt idx="1">
                  <c:v>7005</c:v>
                </c:pt>
                <c:pt idx="2">
                  <c:v>6306</c:v>
                </c:pt>
                <c:pt idx="3">
                  <c:v>6069</c:v>
                </c:pt>
                <c:pt idx="4">
                  <c:v>5148</c:v>
                </c:pt>
                <c:pt idx="5">
                  <c:v>4699</c:v>
                </c:pt>
                <c:pt idx="6">
                  <c:v>4410</c:v>
                </c:pt>
                <c:pt idx="7">
                  <c:v>4253</c:v>
                </c:pt>
                <c:pt idx="8">
                  <c:v>4211</c:v>
                </c:pt>
                <c:pt idx="9">
                  <c:v>4136</c:v>
                </c:pt>
                <c:pt idx="10">
                  <c:v>3792</c:v>
                </c:pt>
                <c:pt idx="11">
                  <c:v>2763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E2-4246-8EE9-749735659C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sale price (Seattle)</c:v>
                </c:pt>
              </c:strCache>
            </c:strRef>
          </c:tx>
          <c:spPr>
            <a:ln w="38100" cap="flat">
              <a:solidFill>
                <a:srgbClr val="2A6FB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A6FB0"/>
              </a:solidFill>
              <a:ln w="9525" cap="flat">
                <a:solidFill>
                  <a:srgbClr val="2A6FB0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2024-08</c:v>
                </c:pt>
                <c:pt idx="1">
                  <c:v>2024-09</c:v>
                </c:pt>
                <c:pt idx="2">
                  <c:v>2024-10</c:v>
                </c:pt>
                <c:pt idx="3">
                  <c:v>2024-11</c:v>
                </c:pt>
                <c:pt idx="4">
                  <c:v>2024-12</c:v>
                </c:pt>
                <c:pt idx="5">
                  <c:v>2025-01</c:v>
                </c:pt>
                <c:pt idx="6">
                  <c:v>2025-02</c:v>
                </c:pt>
                <c:pt idx="7">
                  <c:v>2025-03</c:v>
                </c:pt>
                <c:pt idx="8">
                  <c:v>2025-04</c:v>
                </c:pt>
                <c:pt idx="9">
                  <c:v>2025-05</c:v>
                </c:pt>
                <c:pt idx="10">
                  <c:v>2025-06</c:v>
                </c:pt>
                <c:pt idx="11">
                  <c:v>2025-07</c:v>
                </c:pt>
                <c:pt idx="12">
                  <c:v>2025-08</c:v>
                </c:pt>
                <c:pt idx="13">
                  <c:v>2025-09</c:v>
                </c:pt>
                <c:pt idx="14">
                  <c:v>2025-10</c:v>
                </c:pt>
                <c:pt idx="15">
                  <c:v>2025-11</c:v>
                </c:pt>
                <c:pt idx="16">
                  <c:v>2025-12</c:v>
                </c:pt>
                <c:pt idx="17">
                  <c:v>2026-01</c:v>
                </c:pt>
                <c:pt idx="18">
                  <c:v>2026-02</c:v>
                </c:pt>
                <c:pt idx="19">
                  <c:v>2026-03</c:v>
                </c:pt>
                <c:pt idx="20">
                  <c:v>2026-04</c:v>
                </c:pt>
                <c:pt idx="21">
                  <c:v>2026-05</c:v>
                </c:pt>
                <c:pt idx="22">
                  <c:v>2026-06</c:v>
                </c:pt>
                <c:pt idx="23">
                  <c:v>2026-07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784500</c:v>
                </c:pt>
                <c:pt idx="1">
                  <c:v>779500</c:v>
                </c:pt>
                <c:pt idx="2">
                  <c:v>787000</c:v>
                </c:pt>
                <c:pt idx="3">
                  <c:v>789000</c:v>
                </c:pt>
                <c:pt idx="4">
                  <c:v>787500</c:v>
                </c:pt>
                <c:pt idx="5">
                  <c:v>797500</c:v>
                </c:pt>
                <c:pt idx="6">
                  <c:v>794000</c:v>
                </c:pt>
                <c:pt idx="7">
                  <c:v>802500</c:v>
                </c:pt>
                <c:pt idx="8">
                  <c:v>793000</c:v>
                </c:pt>
                <c:pt idx="9">
                  <c:v>790500</c:v>
                </c:pt>
                <c:pt idx="10">
                  <c:v>786500</c:v>
                </c:pt>
                <c:pt idx="11">
                  <c:v>784500</c:v>
                </c:pt>
                <c:pt idx="12">
                  <c:v>776500</c:v>
                </c:pt>
                <c:pt idx="13">
                  <c:v>785000</c:v>
                </c:pt>
                <c:pt idx="14">
                  <c:v>776000</c:v>
                </c:pt>
                <c:pt idx="15">
                  <c:v>792500</c:v>
                </c:pt>
                <c:pt idx="16">
                  <c:v>797500</c:v>
                </c:pt>
                <c:pt idx="17">
                  <c:v>797500</c:v>
                </c:pt>
                <c:pt idx="18">
                  <c:v>805500</c:v>
                </c:pt>
                <c:pt idx="19">
                  <c:v>814500</c:v>
                </c:pt>
                <c:pt idx="20">
                  <c:v>823000</c:v>
                </c:pt>
                <c:pt idx="21">
                  <c:v>837000</c:v>
                </c:pt>
                <c:pt idx="22">
                  <c:v>812000</c:v>
                </c:pt>
                <c:pt idx="23">
                  <c:v>841500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48C-4AD8-8081-2BB1807848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9412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this is a learning session, not a pitch. We teach a concept, then you do it. Coaches float. The goal by end of day 3 is that you can migrate one of your own Tableau workbooks and see the value of Power BI + Fabric.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story arc of the whole workshop. Left is the Tableau-at-scale pain; right is where Fabric + Power BI take you. Each row maps to labs later in the three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reference architecture for the whole workshop. Come back to it after each lab: Lab 5 builds the ingest arrows, Lab 6 the shared model, Lab 7 Copilot, Lab 9 the MCP loop, Lab 10 the Data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highest-impact change for a Tableau team. A star schema is the shape Power BI, DAX, and AI features all expect. Reference: learn.microsoft.com/power-bi/guidance/star-schema.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live if possible. Emphasize the dependency on model quality, which ties back to Day 1 modeling. Reference: learn.microsoft.com/power-bi/create-reports/copilot-introduction.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developer-experience wow moment for a technical audience. Remote = talk to data; Local = build the model in code. Reference: learn.microsoft.com/power-bi/developer/mcp/mcp-servers-overview.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91295" y="0"/>
            <a:ext cx="3200400" cy="6858000"/>
          </a:xfrm>
          <a:prstGeom prst="rect">
            <a:avLst/>
          </a:prstGeom>
          <a:solidFill>
            <a:srgbClr val="1634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734495" y="0"/>
            <a:ext cx="457200" cy="6858000"/>
          </a:xfrm>
          <a:prstGeom prst="rect">
            <a:avLst/>
          </a:prstGeom>
          <a:solidFill>
            <a:srgbClr val="E09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368735" y="0"/>
            <a:ext cx="146304" cy="6858000"/>
          </a:xfrm>
          <a:prstGeom prst="rect">
            <a:avLst/>
          </a:prstGeom>
          <a:solidFill>
            <a:srgbClr val="1B9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WORKSHOP  -  3 DAYS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BI + Microsoft Fabric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58368" y="3200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D9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Tableau to a governed, AI-ready analytics estate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8368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Schwab analytics team</a:t>
            </a:r>
            <a:r>
              <a:rPr lang="en-US" sz="14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  learn by rebuilding a familiar analysis end to 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5029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Highlights: Copilot in Power BI  -  GitHub Copilot + Power BI MCP servers  -  Fabric Data Agent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9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these three days work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91440" cy="1965960"/>
          </a:xfrm>
          <a:prstGeom prst="rect">
            <a:avLst/>
          </a:prstGeom>
          <a:solidFill>
            <a:srgbClr val="2A6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212140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Teach, then do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633472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teaching blocks in the room, then you build it yourself in a breakout. Every concept has a matching hands-on lab.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91440" cy="1965960"/>
          </a:xfrm>
          <a:prstGeom prst="rect">
            <a:avLst/>
          </a:prstGeom>
          <a:solidFill>
            <a:srgbClr val="1B9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37960" y="212140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Coached breakouts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2633472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groups at each table with a Microsoft specialist coaching. Bring questions from your real Tableau work.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2062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0080" y="4206240"/>
            <a:ext cx="91440" cy="1965960"/>
          </a:xfrm>
          <a:prstGeom prst="rect">
            <a:avLst/>
          </a:prstGeom>
          <a:solidFill>
            <a:srgbClr val="E09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0120" y="440740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Tableau users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4919472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Power BI experience assumed. We map every idea back to what you already know in Tableau.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17920" y="42062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17920" y="4206240"/>
            <a:ext cx="91440" cy="1965960"/>
          </a:xfrm>
          <a:prstGeom prst="rect">
            <a:avLst/>
          </a:prstGeom>
          <a:solidFill>
            <a:srgbClr val="1EA6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37960" y="440740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running example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7960" y="4919472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rebuild a familiar public housing-market analysis (Redfin-style) end to end, so the skills transfer to your own reports.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to 30 people  -  conference room with breakout tables  -  laptops for the hands-on labs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x Schwab</a:t>
            </a:r>
            <a:r>
              <a:rPr lang="en-US" sz="900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Power BI + Fabric workshop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9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days, one journey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520440" cy="393192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520440" cy="868680"/>
          </a:xfrm>
          <a:prstGeom prst="roundRect">
            <a:avLst>
              <a:gd name="adj" fmla="val 9474"/>
            </a:avLst>
          </a:prstGeom>
          <a:solidFill>
            <a:srgbClr val="2A6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3520440" cy="320040"/>
          </a:xfrm>
          <a:prstGeom prst="rect">
            <a:avLst/>
          </a:prstGeom>
          <a:solidFill>
            <a:srgbClr val="2A6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9842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23774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Best Practices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32688" y="3044952"/>
            <a:ext cx="128016" cy="128016"/>
          </a:xfrm>
          <a:prstGeom prst="ellipse">
            <a:avLst/>
          </a:prstGeom>
          <a:solidFill>
            <a:srgbClr val="2A6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70432" y="289864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Tableau to Power BI: how it maps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32688" y="3703320"/>
            <a:ext cx="128016" cy="128016"/>
          </a:xfrm>
          <a:prstGeom prst="ellipse">
            <a:avLst/>
          </a:prstGeom>
          <a:solidFill>
            <a:srgbClr val="2A6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70432" y="355701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modeling: the star schema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32688" y="4361688"/>
            <a:ext cx="128016" cy="128016"/>
          </a:xfrm>
          <a:prstGeom prst="ellipse">
            <a:avLst/>
          </a:prstGeom>
          <a:solidFill>
            <a:srgbClr val="2A6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70432" y="421538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design best practices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32688" y="5020056"/>
            <a:ext cx="128016" cy="128016"/>
          </a:xfrm>
          <a:prstGeom prst="ellipse">
            <a:avLst/>
          </a:prstGeom>
          <a:solidFill>
            <a:srgbClr val="2A6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70432" y="487375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migration approaches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379976" y="1874520"/>
            <a:ext cx="3520440" cy="393192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379976" y="1874520"/>
            <a:ext cx="3520440" cy="868680"/>
          </a:xfrm>
          <a:prstGeom prst="roundRect">
            <a:avLst>
              <a:gd name="adj" fmla="val 9474"/>
            </a:avLst>
          </a:prstGeom>
          <a:solidFill>
            <a:srgbClr val="1B9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379976" y="2423160"/>
            <a:ext cx="3520440" cy="320040"/>
          </a:xfrm>
          <a:prstGeom prst="rect">
            <a:avLst/>
          </a:prstGeom>
          <a:solidFill>
            <a:srgbClr val="1B9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54296" y="19842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654296" y="23774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Migration Lab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72584" y="3044952"/>
            <a:ext cx="128016" cy="128016"/>
          </a:xfrm>
          <a:prstGeom prst="ellipse">
            <a:avLst/>
          </a:prstGeom>
          <a:solidFill>
            <a:srgbClr val="1B9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10328" y="289864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data into OneLake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672584" y="3703320"/>
            <a:ext cx="128016" cy="128016"/>
          </a:xfrm>
          <a:prstGeom prst="ellipse">
            <a:avLst/>
          </a:prstGeom>
          <a:solidFill>
            <a:srgbClr val="1B9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10328" y="355701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shared Direct Lake model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672584" y="4361688"/>
            <a:ext cx="128016" cy="128016"/>
          </a:xfrm>
          <a:prstGeom prst="ellipse">
            <a:avLst/>
          </a:prstGeom>
          <a:solidFill>
            <a:srgbClr val="1B9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10328" y="421538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reports faster with Copilot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672584" y="5020056"/>
            <a:ext cx="128016" cy="128016"/>
          </a:xfrm>
          <a:prstGeom prst="ellipse">
            <a:avLst/>
          </a:prstGeom>
          <a:solidFill>
            <a:srgbClr val="1B9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10328" y="487375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a real workbook, end to end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119872" y="1874520"/>
            <a:ext cx="3520440" cy="393192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119872" y="1874520"/>
            <a:ext cx="3520440" cy="868680"/>
          </a:xfrm>
          <a:prstGeom prst="roundRect">
            <a:avLst>
              <a:gd name="adj" fmla="val 9474"/>
            </a:avLst>
          </a:prstGeom>
          <a:solidFill>
            <a:srgbClr val="E09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119872" y="2423160"/>
            <a:ext cx="3520440" cy="320040"/>
          </a:xfrm>
          <a:prstGeom prst="rect">
            <a:avLst/>
          </a:prstGeom>
          <a:solidFill>
            <a:srgbClr val="E09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394192" y="19842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394192" y="23774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&amp; Next Steps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412480" y="3044952"/>
            <a:ext cx="128016" cy="128016"/>
          </a:xfrm>
          <a:prstGeom prst="ellipse">
            <a:avLst/>
          </a:prstGeom>
          <a:solidFill>
            <a:srgbClr val="E09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650224" y="289864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+ Power BI MCP servers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412480" y="3703320"/>
            <a:ext cx="128016" cy="128016"/>
          </a:xfrm>
          <a:prstGeom prst="ellipse">
            <a:avLst/>
          </a:prstGeom>
          <a:solidFill>
            <a:srgbClr val="E09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650224" y="355701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data: Fabric Data Agent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412480" y="4361688"/>
            <a:ext cx="128016" cy="128016"/>
          </a:xfrm>
          <a:prstGeom prst="ellipse">
            <a:avLst/>
          </a:prstGeom>
          <a:solidFill>
            <a:srgbClr val="E09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650224" y="421538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&amp; reusable patterns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8412480" y="5020056"/>
            <a:ext cx="128016" cy="128016"/>
          </a:xfrm>
          <a:prstGeom prst="ellipse">
            <a:avLst/>
          </a:prstGeom>
          <a:solidFill>
            <a:srgbClr val="E09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650224" y="487375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roadmap &amp; commitments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x Schwab</a:t>
            </a:r>
            <a:r>
              <a:rPr lang="en-US" sz="900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Power BI + Fabric workshop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9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shift we are making together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extracts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11880" y="1984248"/>
            <a:ext cx="457200" cy="18288"/>
          </a:xfrm>
          <a:prstGeom prst="rect">
            <a:avLst/>
          </a:prstGeom>
          <a:solidFill>
            <a:srgbClr val="2A6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566160" y="187452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A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60520" y="187452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governed copy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995160" y="1874520"/>
            <a:ext cx="4892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land once in OneLake; every report reads the same data. No more one .hyper per workbook.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266090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in each workbook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11880" y="2770632"/>
            <a:ext cx="457200" cy="18288"/>
          </a:xfrm>
          <a:prstGeom prst="rect">
            <a:avLst/>
          </a:prstGeom>
          <a:solidFill>
            <a:srgbClr val="1B9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66160" y="2660904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60520" y="266090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Measures defined once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995160" y="2660904"/>
            <a:ext cx="4892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lives in one shared semantic model, so every number agrees.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344728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windows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11880" y="3557016"/>
            <a:ext cx="457200" cy="18288"/>
          </a:xfrm>
          <a:prstGeom prst="rect">
            <a:avLst/>
          </a:prstGeom>
          <a:solidFill>
            <a:srgbClr val="1EA6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566160" y="344728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A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160520" y="344728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Lake, always current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995160" y="3447288"/>
            <a:ext cx="4892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import and no scheduled refresh; reports read live from OneLake.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423367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binaries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11880" y="4343400"/>
            <a:ext cx="457200" cy="18288"/>
          </a:xfrm>
          <a:prstGeom prst="rect">
            <a:avLst/>
          </a:prstGeom>
          <a:solidFill>
            <a:srgbClr val="E09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566160" y="423367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9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160520" y="423367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 + CI/CD (PBIP)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995160" y="4233672"/>
            <a:ext cx="4892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and reports are plain text you can review, diff, and promote like code.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502005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authoring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11880" y="5129784"/>
            <a:ext cx="457200" cy="18288"/>
          </a:xfrm>
          <a:prstGeom prst="rect">
            <a:avLst/>
          </a:prstGeom>
          <a:solidFill>
            <a:srgbClr val="C055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566160" y="502005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160520" y="502005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Copilot + agents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6995160" y="5020056"/>
            <a:ext cx="4892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builds visuals and DAX; the Data Agent and MCP servers answer questions on your model.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x Schwab</a:t>
            </a:r>
            <a:r>
              <a:rPr lang="en-US" sz="900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Power BI + Fabric workshop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9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KNOW MOST OF THIS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Tableau skills translate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3803904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Tableau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Power BI / Fabric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5B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Worksheet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4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visual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4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idea, one canvas holds many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5B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4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page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4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Power BI dashboard is a different Service feature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5B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Published data source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4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semantic 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4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Certify it once, reuse everywhere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5B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(.hyper)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4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 or Direct Lake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4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Lake needs no refresh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5B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Calculated field / LOD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4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DAX measure with CALCULATE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4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instead of FIXED / INCLUDE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5B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Tableau Prep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4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Dataflow Gen2 or notebook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4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Low-code or Spark, your choice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5B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Row-level security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4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 RLS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4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Carries through to Copilot and agents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64008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mapping in reference/tableau-to-powerbi.md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x Schwab</a:t>
            </a:r>
            <a:r>
              <a:rPr lang="en-US" sz="900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Power BI + Fabric workshop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2A6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634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1920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2A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42316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Foundations &amp; Best Practices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05840" y="3794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data modeling, visualization design, governance, and migration approaches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A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-  LAB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Tableau to Power BI: the mindset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91440" cy="1874520"/>
          </a:xfrm>
          <a:prstGeom prst="rect">
            <a:avLst/>
          </a:prstGeom>
          <a:solidFill>
            <a:srgbClr val="2A6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first, then visualize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32688" y="2532888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often starts at the sheet. Power BI is at its best when you shape a good model first, then reports come easily.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87452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17920" y="1874520"/>
            <a:ext cx="91440" cy="1874520"/>
          </a:xfrm>
          <a:prstGeom prst="rect">
            <a:avLst/>
          </a:prstGeom>
          <a:solidFill>
            <a:srgbClr val="1B9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10528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Measures once, not per workbook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510528" y="2532888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YoY, months of supply, and price metrics once in the shared model. Every report inherits them.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041648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0080" y="4041648"/>
            <a:ext cx="91440" cy="1874520"/>
          </a:xfrm>
          <a:prstGeom prst="rect">
            <a:avLst/>
          </a:prstGeom>
          <a:solidFill>
            <a:srgbClr val="1EA6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32688" y="42245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Report-based, not extract-based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32688" y="4700016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reports connect live to one governed model. No copy of the data travels with each report.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4041648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17920" y="4041648"/>
            <a:ext cx="91440" cy="1874520"/>
          </a:xfrm>
          <a:prstGeom prst="rect">
            <a:avLst/>
          </a:prstGeom>
          <a:solidFill>
            <a:srgbClr val="E09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10528" y="42245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dashboard is not a dashboard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510528" y="4700016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Tableau dashboard maps to a Power BI report page. Power BI 'dashboards' are a separate Service pin board.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x Schwab</a:t>
            </a:r>
            <a:r>
              <a:rPr lang="en-US" sz="900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Power BI + Fabric workshop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A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-  WHERE A TABLEAU ESTATE IS TODAY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state: many extracts, scattered logic</a:t>
            </a:r>
            <a:endParaRPr lang="en-US" sz="3000" dirty="0"/>
          </a:p>
        </p:txBody>
      </p:sp>
      <p:pic>
        <p:nvPicPr>
          <p:cNvPr id="5" name="Image 0" descr="C:\temp\Projects\se-copilot\artifacts\schwab-powerbi-workshop\images\schwab-current-st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8800"/>
            <a:ext cx="10881360" cy="43712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38295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workbook carries its own extract and its own copy of the logic. Freshness, storage, and 'which number is right' all get harder as you scale.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x Schwab</a:t>
            </a:r>
            <a:r>
              <a:rPr lang="en-US" sz="900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Power BI + Fabric workshop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A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-  WHERE WE ARE GOING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state: land once on OneLake, serve many</a:t>
            </a:r>
            <a:endParaRPr lang="en-US" sz="3000" dirty="0"/>
          </a:p>
        </p:txBody>
      </p:sp>
      <p:pic>
        <p:nvPicPr>
          <p:cNvPr id="5" name="Image 0" descr="C:\temp\Projects\se-copilot\artifacts\schwab-powerbi-workshop\images\schwab-target-st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1706" y="1783080"/>
            <a:ext cx="6428283" cy="3977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Direct Lake model feeds Power BI, Copilot, the Data Agent, and the GitHub Copilot + MCP developer loop, all governed by Purview + Entra + CI/CD.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x Schwab</a:t>
            </a:r>
            <a:r>
              <a:rPr lang="en-US" sz="900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Power BI + Fabric workshop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A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-  LAB 2  -  THE BIGGEST QUALITY LEVER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modeling: from a wide extract to a star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19"/>
            <a:ext cx="5074920" cy="3667539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55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Tableau way: one wide extract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80160" y="2606040"/>
            <a:ext cx="3794760" cy="2286000"/>
          </a:xfrm>
          <a:prstGeom prst="roundRect">
            <a:avLst>
              <a:gd name="adj" fmla="val 2400"/>
            </a:avLst>
          </a:prstGeom>
          <a:solidFill>
            <a:srgbClr val="F6E7D2"/>
          </a:solidFill>
          <a:ln w="12700">
            <a:solidFill>
              <a:srgbClr val="E091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17320" y="2788920"/>
            <a:ext cx="3520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market_tracker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(region, month, type, price, sales, inventory, ...)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columns in one flat table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49834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values, ambiguous grain, slower and harder to keep consistent.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46520" y="1874520"/>
            <a:ext cx="5074920" cy="3667538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7512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A6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BI way: a star schema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0" y="3383280"/>
            <a:ext cx="1463040" cy="640080"/>
          </a:xfrm>
          <a:prstGeom prst="roundRect">
            <a:avLst>
              <a:gd name="adj" fmla="val 7143"/>
            </a:avLst>
          </a:prstGeom>
          <a:solidFill>
            <a:srgbClr val="2A6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0" y="33832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fact_home_sales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66560" y="2514600"/>
            <a:ext cx="1554480" cy="502920"/>
          </a:xfrm>
          <a:prstGeom prst="roundRect">
            <a:avLst>
              <a:gd name="adj" fmla="val 9091"/>
            </a:avLst>
          </a:prstGeom>
          <a:solidFill>
            <a:srgbClr val="1B9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66560" y="2514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dim_region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688911" y="3063240"/>
            <a:ext cx="1057524" cy="274320"/>
          </a:xfrm>
          <a:prstGeom prst="line">
            <a:avLst/>
          </a:prstGeom>
          <a:noFill/>
          <a:ln w="12700">
            <a:solidFill>
              <a:srgbClr val="6370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692640" y="2514600"/>
            <a:ext cx="1554480" cy="502920"/>
          </a:xfrm>
          <a:prstGeom prst="roundRect">
            <a:avLst>
              <a:gd name="adj" fmla="val 9091"/>
            </a:avLst>
          </a:prstGeom>
          <a:solidFill>
            <a:srgbClr val="1B9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692640" y="2514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 flipH="1">
            <a:off x="9052560" y="3063240"/>
            <a:ext cx="1347746" cy="274320"/>
          </a:xfrm>
          <a:prstGeom prst="line">
            <a:avLst/>
          </a:prstGeom>
          <a:noFill/>
          <a:ln w="12700">
            <a:solidFill>
              <a:srgbClr val="6370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183880" y="4572000"/>
            <a:ext cx="1554480" cy="502920"/>
          </a:xfrm>
          <a:prstGeom prst="roundRect">
            <a:avLst>
              <a:gd name="adj" fmla="val 9091"/>
            </a:avLst>
          </a:prstGeom>
          <a:solidFill>
            <a:srgbClr val="1B9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183880" y="4572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dim_property_type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961120" y="4828032"/>
            <a:ext cx="0" cy="0"/>
          </a:xfrm>
          <a:prstGeom prst="line">
            <a:avLst/>
          </a:prstGeom>
          <a:noFill/>
          <a:ln w="12700">
            <a:solidFill>
              <a:srgbClr val="6370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75120" y="5069951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fact, clean dimensions. Faster, self-explaining, and exactly what Copilot and the Data Agent need.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x Schwab</a:t>
            </a:r>
            <a:r>
              <a:rPr lang="en-US" sz="900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Power BI + Fabric workshop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29</a:t>
            </a:r>
            <a:endParaRPr lang="en-US" sz="900" dirty="0"/>
          </a:p>
        </p:txBody>
      </p:sp>
      <p:sp>
        <p:nvSpPr>
          <p:cNvPr id="27" name="Shape 14">
            <a:extLst>
              <a:ext uri="{FF2B5EF4-FFF2-40B4-BE49-F238E27FC236}">
                <a16:creationId xmlns:a16="http://schemas.microsoft.com/office/drawing/2014/main" id="{DD9DC761-F86C-FA13-E17A-A0A5629E11B1}"/>
              </a:ext>
            </a:extLst>
          </p:cNvPr>
          <p:cNvSpPr/>
          <p:nvPr/>
        </p:nvSpPr>
        <p:spPr>
          <a:xfrm flipV="1">
            <a:off x="8961118" y="4069080"/>
            <a:ext cx="1" cy="502920"/>
          </a:xfrm>
          <a:prstGeom prst="line">
            <a:avLst/>
          </a:prstGeom>
          <a:noFill/>
          <a:ln w="12700">
            <a:solidFill>
              <a:srgbClr val="6370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A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-  STORAGE MODES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Lake: Import speed, live freshness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329184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DirectQuery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Lake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A6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4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copied into the 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4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4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A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4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 refresh needed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4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4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A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4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4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4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source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A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(in-memory)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4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Freshness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4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of last refresh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4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A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from OneLake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4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Closest Tableau analog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4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4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connection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A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of both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Lake loads OneLake Delta tables into memory on demand: no import, no refresh window. Reference: reference/direct-lake.md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x Schwab</a:t>
            </a:r>
            <a:r>
              <a:rPr lang="en-US" sz="900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Power BI + Fabric workshop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A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-  LAB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Visualization design that lands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39496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A6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A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07008" y="2617963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 question, not the chart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299923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A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07008" y="3102595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Fewer, clearer visuals per page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348386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A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587227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theme and number formats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396849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A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07008" y="4071859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multiples over one busy chart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445312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A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07008" y="4556491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Tooltips, drill-through, bookmarks for depth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4400" y="4937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A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07008" y="5041123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accessibility from the start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1874520"/>
            <a:ext cx="53492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4652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55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Avoid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46520" y="2514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39128" y="2610019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wall of KPIs with no story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46520" y="3063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39128" y="3158659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colors competing for attention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46520" y="3611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39128" y="3707299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axes that mislead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46520" y="4160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39128" y="4255939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Recreating a print report pixel for pixel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46520" y="47091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739128" y="4804579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Hard-coded values instead of measures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x Schwab</a:t>
            </a:r>
            <a:r>
              <a:rPr lang="en-US" sz="900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Power BI + Fabric workshop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A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-  LAB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you can actually run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383280" cy="795528"/>
          </a:xfrm>
          <a:prstGeom prst="roundRect">
            <a:avLst>
              <a:gd name="adj" fmla="val 6897"/>
            </a:avLst>
          </a:prstGeom>
          <a:solidFill>
            <a:srgbClr val="0F2A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30175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Workspaces &amp; roles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97680" y="1920240"/>
            <a:ext cx="75895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Member, Contributor, Viewer. Separate dev, test, and prod so an experiment never disturbs a live report.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3383280" cy="795528"/>
          </a:xfrm>
          <a:prstGeom prst="roundRect">
            <a:avLst>
              <a:gd name="adj" fmla="val 6897"/>
            </a:avLst>
          </a:prstGeom>
          <a:solidFill>
            <a:srgbClr val="0F2A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30175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Endorsement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97680" y="2880360"/>
            <a:ext cx="75895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and then Certify the shared model so people find and trust the right one, instead of copying yet another.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3383280" cy="795528"/>
          </a:xfrm>
          <a:prstGeom prst="roundRect">
            <a:avLst>
              <a:gd name="adj" fmla="val 6897"/>
            </a:avLst>
          </a:prstGeom>
          <a:solidFill>
            <a:srgbClr val="0F2A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840480"/>
            <a:ext cx="30175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Sensitivity labels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97680" y="3840480"/>
            <a:ext cx="75895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Information Protection labels flow with the data into exports, so classification travels.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800600"/>
            <a:ext cx="3383280" cy="795528"/>
          </a:xfrm>
          <a:prstGeom prst="roundRect">
            <a:avLst>
              <a:gd name="adj" fmla="val 6897"/>
            </a:avLst>
          </a:prstGeom>
          <a:solidFill>
            <a:srgbClr val="0F2A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4800600"/>
            <a:ext cx="30175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pipelines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97680" y="4800600"/>
            <a:ext cx="75895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content dev to test to prod with rules, paired with PBIP + CI/CD for real change control.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x Schwab</a:t>
            </a:r>
            <a:r>
              <a:rPr lang="en-US" sz="900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Power BI + Fabric workshop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A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-  MIGRATION APPROACHES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migrate without boiling the ocean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103120" cy="32004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71600" y="2286000"/>
            <a:ext cx="640080" cy="640080"/>
          </a:xfrm>
          <a:prstGeom prst="ellipse">
            <a:avLst/>
          </a:prstGeom>
          <a:solidFill>
            <a:srgbClr val="2A6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Inventory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Tableau workbooks, owners, sources, and extracts.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880360" y="2011680"/>
            <a:ext cx="2103120" cy="32004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11880" y="2286000"/>
            <a:ext cx="640080" cy="640080"/>
          </a:xfrm>
          <a:prstGeom prst="ellipse">
            <a:avLst/>
          </a:prstGeom>
          <a:solidFill>
            <a:srgbClr val="2A6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1188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063240" y="3063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Prioritize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63240" y="352044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value x complexity. Start where the payoff is high and the risk is low.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120640" y="2011680"/>
            <a:ext cx="2103120" cy="32004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852160" y="2286000"/>
            <a:ext cx="640080" cy="640080"/>
          </a:xfrm>
          <a:prstGeom prst="ellipse">
            <a:avLst/>
          </a:prstGeom>
          <a:solidFill>
            <a:srgbClr val="2A6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521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303520" y="3063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03520" y="352044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important ones well; re-platform simple ones fast. Model-based over report-based.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360920" y="2011680"/>
            <a:ext cx="2103120" cy="32004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092440" y="2286000"/>
            <a:ext cx="640080" cy="640080"/>
          </a:xfrm>
          <a:prstGeom prst="ellipse">
            <a:avLst/>
          </a:prstGeom>
          <a:solidFill>
            <a:srgbClr val="2A6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0924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543800" y="3063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 it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543800" y="352044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scoped POC with clear success criteria and numbers that tie out.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601200" y="2011680"/>
            <a:ext cx="2103120" cy="32004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332720" y="2286000"/>
            <a:ext cx="640080" cy="640080"/>
          </a:xfrm>
          <a:prstGeom prst="ellipse">
            <a:avLst/>
          </a:prstGeom>
          <a:solidFill>
            <a:srgbClr val="2A6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33272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784080" y="3063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Adopt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784080" y="352044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over, certify the model, and enable authors. Repeat by wave.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Worksheet in governance/migration-assessment-worksheet.md  -  approach in reference/migration-approaches.md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x Schwab</a:t>
            </a:r>
            <a:r>
              <a:rPr lang="en-US" sz="900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Power BI + Fabric workshop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29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97480" y="3383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9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3383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9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78040" y="3383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9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418320" y="3383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9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B9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634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1920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42316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Migration Lab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05840" y="3794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exercises, real-world use cases, report development, and coaching from Microsoft specialists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9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-  OUR RUNNING EXAMPLE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familiar dataset: housing market (Redfin-style)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users know the public Redfin housing data well, so we rebuild it here. </a:t>
            </a:r>
            <a:r>
              <a:rPr lang="en-US" sz="13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sample is synthetic</a:t>
            </a:r>
            <a:r>
              <a:rPr lang="en-US" sz="13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12 US metros, 24 months, 4 property types. You will model it, report on it, and ask it questions.</a:t>
            </a:r>
            <a:endParaRPr lang="en-US" sz="13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2606040"/>
          <a:ext cx="108813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sample data (synthetic), homes sold by metro, latest month. Regenerate with data/generate_data.py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x Schwab</a:t>
            </a:r>
            <a:r>
              <a:rPr lang="en-US" sz="900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Power BI + Fabric workshop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9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-  LAB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the data into OneLake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514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2514600" cy="548640"/>
          </a:xfrm>
          <a:prstGeom prst="rect">
            <a:avLst/>
          </a:prstGeom>
          <a:solidFill>
            <a:srgbClr val="0F2A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Redfin feed, MLS listings, on-prem SQL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172968" y="29718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74720" y="2103120"/>
            <a:ext cx="2514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74720" y="2103120"/>
            <a:ext cx="2514600" cy="548640"/>
          </a:xfrm>
          <a:prstGeom prst="rect">
            <a:avLst/>
          </a:prstGeom>
          <a:solidFill>
            <a:srgbClr val="E09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21031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Gateways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0" y="28346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VNet gateway for cloud, on-prem gateway for on-prem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07608" y="29718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309360" y="2103120"/>
            <a:ext cx="2514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9360" y="2103120"/>
            <a:ext cx="2514600" cy="548640"/>
          </a:xfrm>
          <a:prstGeom prst="rect">
            <a:avLst/>
          </a:prstGeom>
          <a:solidFill>
            <a:srgbClr val="2A6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09360" y="21031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92240" y="28346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Factory pipelines or Dataflow Gen2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842248" y="29718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144000" y="2103120"/>
            <a:ext cx="2514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144000" y="2103120"/>
            <a:ext cx="2514600" cy="548640"/>
          </a:xfrm>
          <a:prstGeom prst="rect">
            <a:avLst/>
          </a:prstGeom>
          <a:solidFill>
            <a:srgbClr val="1B9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0" y="21031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Medallion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326880" y="28346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raw, Silver star, Gold marts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46634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</a:t>
            </a:r>
            <a:r>
              <a:rPr lang="en-US" sz="130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cross a managed gateway. The VNet data gateway secures cloud sources; the on-premises data gateway secures on-prem. Land raw once, then transform in OneLake.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x Schwab</a:t>
            </a:r>
            <a:r>
              <a:rPr lang="en-US" sz="900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Power BI + Fabric workshop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9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-  LAB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shared model, measures defined once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21208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Housing-Market-Insights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Lake on the gold tables. Star schema. Endorsed and reused by every report.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96112" y="3310128"/>
            <a:ext cx="118872" cy="118872"/>
          </a:xfrm>
          <a:prstGeom prst="ellipse">
            <a:avLst/>
          </a:prstGeom>
          <a:solidFill>
            <a:srgbClr val="1B9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15568" y="31821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as a star, mark the date table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96112" y="3858768"/>
            <a:ext cx="118872" cy="118872"/>
          </a:xfrm>
          <a:prstGeom prst="ellipse">
            <a:avLst/>
          </a:prstGeom>
          <a:solidFill>
            <a:srgbClr val="1B9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15568" y="37307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keys, use friendly names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96112" y="4407408"/>
            <a:ext cx="118872" cy="118872"/>
          </a:xfrm>
          <a:prstGeom prst="ellipse">
            <a:avLst/>
          </a:prstGeom>
          <a:solidFill>
            <a:srgbClr val="1B9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15568" y="42793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for AI: schema, instructions, verified answers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96112" y="4956048"/>
            <a:ext cx="118872" cy="118872"/>
          </a:xfrm>
          <a:prstGeom prst="ellipse">
            <a:avLst/>
          </a:prstGeom>
          <a:solidFill>
            <a:srgbClr val="1B9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15568" y="48280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Promote, then Certify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80760" y="1874520"/>
            <a:ext cx="5440680" cy="3749040"/>
          </a:xfrm>
          <a:prstGeom prst="roundRect">
            <a:avLst>
              <a:gd name="adj" fmla="val 1951"/>
            </a:avLst>
          </a:prstGeom>
          <a:solidFill>
            <a:srgbClr val="0F2A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0936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measures (defined once)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09360" y="2514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Homes Sold = SUM(fact[homes_sold])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09360" y="30815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Median Sale Price = AVERAGE(...)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09360" y="364845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Months of Supply = DIVIDE([Inventory],[Homes Sold])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09360" y="42153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Homes Sold YoY % = time intelligence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09360" y="47823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Sold Above List % = AVERAGE(...)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09360" y="5349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 inherits these. No more redefining YoY in each workbook.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x Schwab</a:t>
            </a:r>
            <a:r>
              <a:rPr lang="en-US" sz="900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Power BI + Fabric workshop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09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E09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-  LAB 7  -  HIGHLIGHT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Copilot in Power BI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16344F"/>
          </a:solidFill>
          <a:ln w="12700">
            <a:solidFill>
              <a:srgbClr val="2C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0848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9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report pages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54203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page you want; Copilot lays out the visuals.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16344F"/>
          </a:solidFill>
          <a:ln w="12700">
            <a:solidFill>
              <a:srgbClr val="2C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92240" y="20848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9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Narrate the data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54203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summary visual that explains what the numbers say.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767328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16344F"/>
          </a:solidFill>
          <a:ln w="12700">
            <a:solidFill>
              <a:srgbClr val="2C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3931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9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DAX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43891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and explain DAX measures and queries in the DAX query view.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3767328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16344F"/>
          </a:solidFill>
          <a:ln w="12700">
            <a:solidFill>
              <a:srgbClr val="2C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92240" y="3931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9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Describe the model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0" y="43891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measure descriptions that also help humans.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5321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 worth repeating: </a:t>
            </a:r>
            <a:r>
              <a:rPr lang="en-US" sz="1300" i="1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is only as good as your model. A clean star, friendly names, and measure descriptions are what make Copilot answers reliable.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9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-  LAB 8  -  COACHED BREAKOUT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Migrate a real workbook, end to end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577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3-sheet Tableau housing workbook (price trends, competitiveness, inventory), map the extract to the model, rebuild each sheet as a report visual, and check that the numbers tie out.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333756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B9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3337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33192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extract fields to model fields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90448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B9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904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3886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each sheet as a visual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47141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B9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4471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4453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totals against the source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03834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B9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5038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502005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second use case from MLS listings</a:t>
            </a:r>
            <a:endParaRPr lang="en-US" sz="13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6400800" y="2011680"/>
          <a:ext cx="51206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 16"/>
          <p:cNvSpPr/>
          <p:nvPr/>
        </p:nvSpPr>
        <p:spPr>
          <a:xfrm>
            <a:off x="6400800" y="5760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sample data: median sale price trend, Seattle (rebuild of a Tableau sheet)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x Schwab</a:t>
            </a:r>
            <a:r>
              <a:rPr lang="en-US" sz="900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Power BI + Fabric workshop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E09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634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1920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E09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42316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Showcase &amp; Next Steps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05840" y="3794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demonstrations, lessons learned, reusable patterns, and adoption recommendations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B9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-  LAB 9  -  HIGHLIGHT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Copilot + Power BI MCP servers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9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lets GitHub Copilot in VS Code talk to Power BI through tools. Host = VS Code, Client = Copilot, Server = Power BI. Two servers, in Public Preview: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5257800" cy="2880360"/>
          </a:xfrm>
          <a:prstGeom prst="roundRect">
            <a:avLst>
              <a:gd name="adj" fmla="val 2540"/>
            </a:avLst>
          </a:prstGeom>
          <a:solidFill>
            <a:srgbClr val="16344F"/>
          </a:solidFill>
          <a:ln w="19050">
            <a:solidFill>
              <a:srgbClr val="1EA6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A6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Remote MCP server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A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32004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Fabric-hosted, no install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7490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A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15568" y="37490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or Service Principal auth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2976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A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15568" y="429768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querying + insights on existing models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846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A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5568" y="484632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Execute Query (DAX, honors RLS), Get Semantic Model Schema, Get Report Metadata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2514600"/>
            <a:ext cx="5257800" cy="2880360"/>
          </a:xfrm>
          <a:prstGeom prst="roundRect">
            <a:avLst>
              <a:gd name="adj" fmla="val 2540"/>
            </a:avLst>
          </a:prstGeom>
          <a:solidFill>
            <a:srgbClr val="16344F"/>
          </a:solidFill>
          <a:ln w="19050">
            <a:solidFill>
              <a:srgbClr val="E091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92240" y="2651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9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MCP server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92240" y="32004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9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93408" y="32004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VS Code or Node 20+ (npx)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37490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9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93408" y="37490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transport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42976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9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93408" y="429768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building + modifying models in code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4846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9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93408" y="484632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metadata read/write, query, database operations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56235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PBIP + Git + CI/CD (fabric-cicd): your model and reports become reviewable, promotable code. Apply least-privilege Fabric RBAC.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9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E09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-  LAB 10  -  HIGHLIGHT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your data: the Fabric Data Agent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57784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natural-language agent grounded on your certified model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96112" y="3063240"/>
            <a:ext cx="118872" cy="118872"/>
          </a:xfrm>
          <a:prstGeom prst="ellipse">
            <a:avLst/>
          </a:prstGeom>
          <a:solidFill>
            <a:srgbClr val="E09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15568" y="292608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on Housing-Market-Insights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96112" y="3630168"/>
            <a:ext cx="118872" cy="118872"/>
          </a:xfrm>
          <a:prstGeom prst="ellipse">
            <a:avLst/>
          </a:prstGeom>
          <a:solidFill>
            <a:srgbClr val="E09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15568" y="349300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Prep-for-AI metadata from Lab 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96112" y="4197096"/>
            <a:ext cx="118872" cy="118872"/>
          </a:xfrm>
          <a:prstGeom prst="ellipse">
            <a:avLst/>
          </a:prstGeom>
          <a:solidFill>
            <a:srgbClr val="E09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15568" y="4059936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Honors row-level security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6112" y="4764024"/>
            <a:ext cx="118872" cy="118872"/>
          </a:xfrm>
          <a:prstGeom prst="ellipse">
            <a:avLst/>
          </a:prstGeom>
          <a:solidFill>
            <a:srgbClr val="E09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15568" y="4626864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natural next step from Tableau Ask Data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46520" y="1920240"/>
            <a:ext cx="5074920" cy="3657600"/>
          </a:xfrm>
          <a:prstGeom prst="roundRect">
            <a:avLst>
              <a:gd name="adj" fmla="val 2000"/>
            </a:avLst>
          </a:prstGeom>
          <a:solidFill>
            <a:srgbClr val="0F2A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7512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9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asking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0" y="2514600"/>
            <a:ext cx="4617720" cy="777240"/>
          </a:xfrm>
          <a:prstGeom prst="roundRect">
            <a:avLst>
              <a:gd name="adj" fmla="val 11765"/>
            </a:avLst>
          </a:prstGeom>
          <a:solidFill>
            <a:srgbClr val="1634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0" y="25146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D9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metros sold the most homes last month?"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675120" y="3474720"/>
            <a:ext cx="4617720" cy="777240"/>
          </a:xfrm>
          <a:prstGeom prst="roundRect">
            <a:avLst>
              <a:gd name="adj" fmla="val 11765"/>
            </a:avLst>
          </a:prstGeom>
          <a:solidFill>
            <a:srgbClr val="1634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0" y="347472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D9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did median price change year over year?"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75120" y="4434840"/>
            <a:ext cx="4617720" cy="777240"/>
          </a:xfrm>
          <a:prstGeom prst="roundRect">
            <a:avLst>
              <a:gd name="adj" fmla="val 11765"/>
            </a:avLst>
          </a:prstGeom>
          <a:solidFill>
            <a:srgbClr val="1634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0" y="443484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D9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is inventory tightest right now?"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x Schwab</a:t>
            </a:r>
            <a:r>
              <a:rPr lang="en-US" sz="900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Power BI + Fabric workshop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29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9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E09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-  LAB 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take home: reusable patterns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429000" cy="73152"/>
          </a:xfrm>
          <a:prstGeom prst="rect">
            <a:avLst/>
          </a:prstGeom>
          <a:solidFill>
            <a:srgbClr val="E09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07568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Certified shared model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58775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governed source of truth per subject area.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61688" y="187452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61688" y="1874520"/>
            <a:ext cx="3429000" cy="73152"/>
          </a:xfrm>
          <a:prstGeom prst="rect">
            <a:avLst/>
          </a:prstGeom>
          <a:solidFill>
            <a:srgbClr val="E09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90288" y="207568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 library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90288" y="258775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defined once, reused everywhere.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83296" y="187452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83296" y="1874520"/>
            <a:ext cx="3429000" cy="73152"/>
          </a:xfrm>
          <a:prstGeom prst="rect">
            <a:avLst/>
          </a:prstGeom>
          <a:solidFill>
            <a:srgbClr val="E09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11896" y="207568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Template report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11896" y="258775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themed starting point so new reports look right.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0080" y="3657600"/>
            <a:ext cx="3429000" cy="73152"/>
          </a:xfrm>
          <a:prstGeom prst="rect">
            <a:avLst/>
          </a:prstGeom>
          <a:solidFill>
            <a:srgbClr val="E09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8680" y="385876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pipeline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8680" y="437083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 test to prod with PBIP + CI/CD.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61688" y="365760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361688" y="3657600"/>
            <a:ext cx="3429000" cy="73152"/>
          </a:xfrm>
          <a:prstGeom prst="rect">
            <a:avLst/>
          </a:prstGeom>
          <a:solidFill>
            <a:srgbClr val="E09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90288" y="385876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developer loop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90288" y="437083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builds and queries the model.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83296" y="365760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083296" y="3657600"/>
            <a:ext cx="3429000" cy="73152"/>
          </a:xfrm>
          <a:prstGeom prst="rect">
            <a:avLst/>
          </a:prstGeom>
          <a:solidFill>
            <a:srgbClr val="E09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311896" y="385876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AI-ready metadata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311896" y="437083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Prep-for-AI so Copilot and agents stay accurate.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x Schwab</a:t>
            </a:r>
            <a:r>
              <a:rPr lang="en-US" sz="900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Power BI + Fabric workshop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29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9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E09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-  ADOPTION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roadmap you can start on Monday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520440" cy="37947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520440" cy="868680"/>
          </a:xfrm>
          <a:prstGeom prst="roundRect">
            <a:avLst>
              <a:gd name="adj" fmla="val 9474"/>
            </a:avLst>
          </a:prstGeom>
          <a:solidFill>
            <a:srgbClr val="2A6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3520440" cy="320040"/>
          </a:xfrm>
          <a:prstGeom prst="rect">
            <a:avLst/>
          </a:prstGeom>
          <a:solidFill>
            <a:srgbClr val="2A6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9933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Crawl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2386584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to 30 days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29718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70432" y="2935224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dev/test/prod workspaces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372160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70432" y="368503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one high-value workbook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4471416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" y="44348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Certify the first shared model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79976" y="1874520"/>
            <a:ext cx="3520440" cy="37947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379976" y="1874520"/>
            <a:ext cx="3520440" cy="868680"/>
          </a:xfrm>
          <a:prstGeom prst="roundRect">
            <a:avLst>
              <a:gd name="adj" fmla="val 9474"/>
            </a:avLst>
          </a:prstGeom>
          <a:solidFill>
            <a:srgbClr val="1B9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379976" y="2423160"/>
            <a:ext cx="3520440" cy="320040"/>
          </a:xfrm>
          <a:prstGeom prst="rect">
            <a:avLst/>
          </a:prstGeom>
          <a:solidFill>
            <a:srgbClr val="1B9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54296" y="19933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654296" y="2386584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to 60 days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654296" y="29718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10328" y="2935224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a first wave of authors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654296" y="372160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10328" y="368503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governance + naming standards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654296" y="4471416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10328" y="44348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PBIP + CI/CD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119872" y="1874520"/>
            <a:ext cx="3520440" cy="37947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119872" y="1874520"/>
            <a:ext cx="3520440" cy="868680"/>
          </a:xfrm>
          <a:prstGeom prst="roundRect">
            <a:avLst>
              <a:gd name="adj" fmla="val 9474"/>
            </a:avLst>
          </a:prstGeom>
          <a:solidFill>
            <a:srgbClr val="1EA6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119872" y="2423160"/>
            <a:ext cx="3520440" cy="320040"/>
          </a:xfrm>
          <a:prstGeom prst="rect">
            <a:avLst/>
          </a:prstGeom>
          <a:solidFill>
            <a:srgbClr val="1EA6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394192" y="19933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394192" y="2386584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to 90 days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394192" y="29718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A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650224" y="2935224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by workbook wave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394192" y="372160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A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650224" y="368503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Copilot + Data Agent broadly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394192" y="4471416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A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650224" y="44348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 Center of Excellence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x Schwab</a:t>
            </a:r>
            <a:r>
              <a:rPr lang="en-US" sz="900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Power BI + Fabric workshop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29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34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E09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Power BI + Microsoft Fabric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257800" cy="1280160"/>
          </a:xfrm>
          <a:prstGeom prst="roundRect">
            <a:avLst>
              <a:gd name="adj" fmla="val 5000"/>
            </a:avLst>
          </a:prstGeom>
          <a:solidFill>
            <a:srgbClr val="16344F"/>
          </a:solidFill>
          <a:ln w="12700">
            <a:solidFill>
              <a:srgbClr val="2C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2084832"/>
            <a:ext cx="310896" cy="310896"/>
          </a:xfrm>
          <a:prstGeom prst="ellipse">
            <a:avLst/>
          </a:prstGeom>
          <a:solidFill>
            <a:srgbClr val="E09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98448" y="174650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governed truth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298448" y="213055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once, model once, and every team reads the same certified numbers.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257800" cy="1280160"/>
          </a:xfrm>
          <a:prstGeom prst="roundRect">
            <a:avLst>
              <a:gd name="adj" fmla="val 5000"/>
            </a:avLst>
          </a:prstGeom>
          <a:solidFill>
            <a:srgbClr val="16344F"/>
          </a:solidFill>
          <a:ln w="12700">
            <a:solidFill>
              <a:srgbClr val="2C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19088" y="2084832"/>
            <a:ext cx="310896" cy="310896"/>
          </a:xfrm>
          <a:prstGeom prst="ellipse">
            <a:avLst/>
          </a:prstGeom>
          <a:solidFill>
            <a:srgbClr val="E09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76288" y="174650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Lower total cost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876288" y="213055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capacity for BI and AI, Direct Lake instead of extract sprawl, no per-workbook refresh.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136392"/>
            <a:ext cx="5257800" cy="1280160"/>
          </a:xfrm>
          <a:prstGeom prst="roundRect">
            <a:avLst>
              <a:gd name="adj" fmla="val 5000"/>
            </a:avLst>
          </a:prstGeom>
          <a:solidFill>
            <a:srgbClr val="16344F"/>
          </a:solidFill>
          <a:ln w="12700">
            <a:solidFill>
              <a:srgbClr val="2C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41248" y="3621024"/>
            <a:ext cx="310896" cy="310896"/>
          </a:xfrm>
          <a:prstGeom prst="ellipse">
            <a:avLst/>
          </a:prstGeom>
          <a:solidFill>
            <a:srgbClr val="E09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98448" y="328269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built in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298448" y="3666744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Copilot, the Data Agent, and MCP work directly on your model, no bolt-on.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3136392"/>
            <a:ext cx="5257800" cy="1280160"/>
          </a:xfrm>
          <a:prstGeom prst="roundRect">
            <a:avLst>
              <a:gd name="adj" fmla="val 5000"/>
            </a:avLst>
          </a:prstGeom>
          <a:solidFill>
            <a:srgbClr val="16344F"/>
          </a:solidFill>
          <a:ln w="12700">
            <a:solidFill>
              <a:srgbClr val="2C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19088" y="3621024"/>
            <a:ext cx="310896" cy="310896"/>
          </a:xfrm>
          <a:prstGeom prst="ellipse">
            <a:avLst/>
          </a:prstGeom>
          <a:solidFill>
            <a:srgbClr val="E09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76288" y="328269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governance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876288" y="3666744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lineage, Entra + RLS, sensitivity labels, and CI/CD as standard.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72584"/>
            <a:ext cx="5257800" cy="1280160"/>
          </a:xfrm>
          <a:prstGeom prst="roundRect">
            <a:avLst>
              <a:gd name="adj" fmla="val 5000"/>
            </a:avLst>
          </a:prstGeom>
          <a:solidFill>
            <a:srgbClr val="16344F"/>
          </a:solidFill>
          <a:ln w="12700">
            <a:solidFill>
              <a:srgbClr val="2C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41248" y="5157216"/>
            <a:ext cx="310896" cy="310896"/>
          </a:xfrm>
          <a:prstGeom prst="ellipse">
            <a:avLst/>
          </a:prstGeom>
          <a:solidFill>
            <a:srgbClr val="E09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298448" y="48188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Faster delivery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298448" y="5202936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drafts visuals and DAX; PBIP + pipelines ship changes safely.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0" y="4672584"/>
            <a:ext cx="5257800" cy="1280160"/>
          </a:xfrm>
          <a:prstGeom prst="roundRect">
            <a:avLst>
              <a:gd name="adj" fmla="val 5000"/>
            </a:avLst>
          </a:prstGeom>
          <a:solidFill>
            <a:srgbClr val="16344F"/>
          </a:solidFill>
          <a:ln w="12700">
            <a:solidFill>
              <a:srgbClr val="2C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19088" y="5157216"/>
            <a:ext cx="310896" cy="310896"/>
          </a:xfrm>
          <a:prstGeom prst="ellipse">
            <a:avLst/>
          </a:prstGeom>
          <a:solidFill>
            <a:srgbClr val="E09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76288" y="48188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that transfer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876288" y="5202936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Tableau instincts map cleanly; the team is productive quickly.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9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TO YOU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low-risk first step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0F2A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high-value Tableau workbook and migrate it in a scoped POC.  </a:t>
            </a:r>
            <a:r>
              <a:rPr lang="en-US" sz="1600" dirty="0">
                <a:solidFill>
                  <a:srgbClr val="D9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to three weeks, clear success criteria, numbers that tie out. We build it with you.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09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463040" y="39136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45262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workbook + success criteria together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79976" y="36576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08576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09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202936" y="39136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08576" y="45262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report, Copilot, and validate against source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19872" y="36576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E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48472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09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942832" y="39136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48472" y="45262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results and plan the first migration wave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x Schwab</a:t>
            </a:r>
            <a:r>
              <a:rPr lang="en-US" sz="900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Power BI + Fabric workshop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29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9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IT FURTHER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Resources and where things live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931920" cy="530352"/>
          </a:xfrm>
          <a:prstGeom prst="roundRect">
            <a:avLst>
              <a:gd name="adj" fmla="val 8621"/>
            </a:avLst>
          </a:prstGeom>
          <a:solidFill>
            <a:srgbClr val="0F2A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" y="192024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lab repo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846320" y="1920240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hands-on lab, the data generator, notebooks, and reference docs. Yours to keep and rerun.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578608"/>
            <a:ext cx="3931920" cy="530352"/>
          </a:xfrm>
          <a:prstGeom prst="roundRect">
            <a:avLst>
              <a:gd name="adj" fmla="val 8621"/>
            </a:avLst>
          </a:prstGeom>
          <a:solidFill>
            <a:srgbClr val="0F2A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4672" y="257860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reference/tableau-to-powerbi.md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46320" y="2578608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concept mapping from Tableau.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236976"/>
            <a:ext cx="3931920" cy="530352"/>
          </a:xfrm>
          <a:prstGeom prst="roundRect">
            <a:avLst>
              <a:gd name="adj" fmla="val 8621"/>
            </a:avLst>
          </a:prstGeom>
          <a:solidFill>
            <a:srgbClr val="0F2A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4672" y="3236976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reference/mcp-servers.md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46320" y="3236976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BI MCP servers, remote and local.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895344"/>
            <a:ext cx="3931920" cy="530352"/>
          </a:xfrm>
          <a:prstGeom prst="roundRect">
            <a:avLst>
              <a:gd name="adj" fmla="val 8621"/>
            </a:avLst>
          </a:prstGeom>
          <a:solidFill>
            <a:srgbClr val="0F2A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04672" y="389534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reference/direct-lake.md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46320" y="3895344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modes and when to use Direct Lake.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553712"/>
            <a:ext cx="3931920" cy="530352"/>
          </a:xfrm>
          <a:prstGeom prst="roundRect">
            <a:avLst>
              <a:gd name="adj" fmla="val 8621"/>
            </a:avLst>
          </a:prstGeom>
          <a:solidFill>
            <a:srgbClr val="0F2A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04672" y="455371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governance/adoption-roadmap.md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46320" y="455371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30-60-90 plan and Center of Excellence.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212080"/>
            <a:ext cx="3931920" cy="530352"/>
          </a:xfrm>
          <a:prstGeom prst="roundRect">
            <a:avLst>
              <a:gd name="adj" fmla="val 8621"/>
            </a:avLst>
          </a:prstGeom>
          <a:solidFill>
            <a:srgbClr val="0F2A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04672" y="521208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reference/sources.md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46320" y="5212080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Microsoft Learn page this workshop grounds on.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x Schwab</a:t>
            </a:r>
            <a:r>
              <a:rPr lang="en-US" sz="900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Power BI + Fabric workshop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29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91295" y="0"/>
            <a:ext cx="3200400" cy="6858000"/>
          </a:xfrm>
          <a:prstGeom prst="rect">
            <a:avLst/>
          </a:prstGeom>
          <a:solidFill>
            <a:srgbClr val="1634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734495" y="0"/>
            <a:ext cx="457200" cy="6858000"/>
          </a:xfrm>
          <a:prstGeom prst="rect">
            <a:avLst/>
          </a:prstGeom>
          <a:solidFill>
            <a:srgbClr val="E09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368735" y="0"/>
            <a:ext cx="146304" cy="6858000"/>
          </a:xfrm>
          <a:prstGeom prst="rect">
            <a:avLst/>
          </a:prstGeom>
          <a:solidFill>
            <a:srgbClr val="1B9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58368" y="35661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9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 build your first migration together.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x Schwab  -  Power BI + Microsoft Fabric workshop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2993</Words>
  <Application>Microsoft Office PowerPoint</Application>
  <PresentationFormat>Widescreen</PresentationFormat>
  <Paragraphs>456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Schwab Power BI + Fabric Workshop</dc:title>
  <dc:subject>PptxGenJS Presentation</dc:subject>
  <dc:creator>Microsoft</dc:creator>
  <cp:lastModifiedBy>Alison Pouw</cp:lastModifiedBy>
  <cp:revision>3</cp:revision>
  <dcterms:created xsi:type="dcterms:W3CDTF">2026-07-13T15:30:15Z</dcterms:created>
  <dcterms:modified xsi:type="dcterms:W3CDTF">2026-07-13T15:46:32Z</dcterms:modified>
</cp:coreProperties>
</file>